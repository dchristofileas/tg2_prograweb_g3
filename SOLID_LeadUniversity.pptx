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8.png"/><Relationship Id="rId10" Type="http://schemas.openxmlformats.org/officeDocument/2006/relationships/image" Target="../media/image-9-8.png"/><Relationship Id="rId11" Type="http://schemas.openxmlformats.org/officeDocument/2006/relationships/image" Target="../media/image-9-8.png"/><Relationship Id="rId12" Type="http://schemas.openxmlformats.org/officeDocument/2006/relationships/image" Target="../media/image-9-8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286000" cy="8092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2514600"/>
            <a:ext cx="4709160" cy="384048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25146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DIDÁCTICA · INGENIERÍA DE SOFTWARE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3504" y="297180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5 principios</a:t>
            </a:r>
            <a:endParaRPr lang="en-US" sz="4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sostienen el</a:t>
            </a:r>
            <a:endParaRPr lang="en-US" sz="4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que dura: SOLID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5394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dice cada principio, qué problema resuelve y cómo se ve en el código: antes y después, con ejemplos en Python.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6199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861E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6199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39696" y="6199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861E"/>
          </a:solidFill>
          <a:ln/>
        </p:spPr>
      </p:sp>
      <p:sp>
        <p:nvSpPr>
          <p:cNvPr id="11" name="Text 8"/>
          <p:cNvSpPr/>
          <p:nvPr/>
        </p:nvSpPr>
        <p:spPr>
          <a:xfrm>
            <a:off x="2139696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596896" y="6199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Abierto/Cerrado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21024" y="6199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861E"/>
          </a:solidFill>
          <a:ln/>
        </p:spPr>
      </p:sp>
      <p:sp>
        <p:nvSpPr>
          <p:cNvPr id="14" name="Text 11"/>
          <p:cNvSpPr/>
          <p:nvPr/>
        </p:nvSpPr>
        <p:spPr>
          <a:xfrm>
            <a:off x="3621024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078224" y="6199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Sustitución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102352" y="6199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861E"/>
          </a:solidFill>
          <a:ln/>
        </p:spPr>
      </p:sp>
      <p:sp>
        <p:nvSpPr>
          <p:cNvPr id="17" name="Text 14"/>
          <p:cNvSpPr/>
          <p:nvPr/>
        </p:nvSpPr>
        <p:spPr>
          <a:xfrm>
            <a:off x="5102352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559552" y="6199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Segregación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583680" y="6199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861E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6199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040880" y="6199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SOLID?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720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acrónimo de cinco principios de diseño orientado a objetos, reunidos por 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C. Martin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inicios de los 2000. No son reglas para escribir código que funcione: son reglas para escribir código que 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pueda cambiar sin miedo.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76072" y="3182112"/>
            <a:ext cx="713232" cy="713232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6" name="Image 0" descr="assets/ic_wren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512" y="3367552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154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sobre hoy, es sobre mañana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35204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 real del software está en mantenerlo, no en escribirlo.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" y="4187952"/>
            <a:ext cx="713232" cy="713232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10" name="Image 1" descr="assets/ic_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2" y="4373392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Aíslan el impacto del cambio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08760" y="4526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requisito nuevo debería tocar pocos archivos, no todo el sistema.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76072" y="5193792"/>
            <a:ext cx="713232" cy="713232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14" name="Image 2" descr="assets/ic_tes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2" y="5379232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5166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Hacen el código testeable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08760" y="55321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Piezas pequeñas y desacopladas se prueban de forma aislada.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635240" y="1554480"/>
            <a:ext cx="4005072" cy="4572000"/>
          </a:xfrm>
          <a:prstGeom prst="roundRect">
            <a:avLst>
              <a:gd name="adj" fmla="val 3196"/>
            </a:avLst>
          </a:prstGeom>
          <a:solidFill>
            <a:srgbClr val="262626"/>
          </a:solidFill>
          <a:ln/>
        </p:spPr>
      </p:sp>
      <p:sp>
        <p:nvSpPr>
          <p:cNvPr id="18" name="Text 13"/>
          <p:cNvSpPr/>
          <p:nvPr/>
        </p:nvSpPr>
        <p:spPr>
          <a:xfrm>
            <a:off x="795528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DE FONDO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955280" y="23317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se lee muchas más veces de las que se escribe, y se modifica muchas más veces de las que se lee.</a:t>
            </a:r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7955280" y="4434840"/>
            <a:ext cx="548640" cy="27432"/>
          </a:xfrm>
          <a:prstGeom prst="rect">
            <a:avLst/>
          </a:prstGeom>
          <a:solidFill>
            <a:srgbClr val="FF861E"/>
          </a:solidFill>
          <a:ln/>
        </p:spPr>
      </p:sp>
      <p:sp>
        <p:nvSpPr>
          <p:cNvPr id="21" name="Text 16"/>
          <p:cNvSpPr/>
          <p:nvPr/>
        </p:nvSpPr>
        <p:spPr>
          <a:xfrm>
            <a:off x="7955280" y="4663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no busca el código más corto ni el más ingenioso. Busca el que un compañero pueda cambiar dentro de dos años sin romper nada.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 ·  Desarrollo de Software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cinco principios de un vistazo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3977640"/>
          </a:xfrm>
          <a:prstGeom prst="roundRect">
            <a:avLst>
              <a:gd name="adj" fmla="val 5106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F861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2148840" cy="274320"/>
          </a:xfrm>
          <a:prstGeom prst="rect">
            <a:avLst/>
          </a:prstGeom>
          <a:solidFill>
            <a:srgbClr val="FF861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105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312164" y="2816352"/>
            <a:ext cx="621792" cy="621792"/>
          </a:xfrm>
          <a:prstGeom prst="ellipse">
            <a:avLst/>
          </a:prstGeom>
          <a:solidFill>
            <a:srgbClr val="262626"/>
          </a:solidFill>
          <a:ln/>
        </p:spPr>
      </p:sp>
      <p:pic>
        <p:nvPicPr>
          <p:cNvPr id="9" name="Image 0" descr="assets/ic_sr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830" y="2978018"/>
            <a:ext cx="298460" cy="298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356616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6656" y="404164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única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421892" y="4434840"/>
            <a:ext cx="402336" cy="22860"/>
          </a:xfrm>
          <a:prstGeom prst="rect">
            <a:avLst/>
          </a:prstGeom>
          <a:solidFill>
            <a:srgbClr val="E6E5E1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" y="4590288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clase, una sola razón para cambiar.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816352" y="1783080"/>
            <a:ext cx="2148840" cy="3977640"/>
          </a:xfrm>
          <a:prstGeom prst="roundRect">
            <a:avLst>
              <a:gd name="adj" fmla="val 5106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16352" y="178308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F861E"/>
          </a:solidFill>
          <a:ln/>
        </p:spPr>
      </p:sp>
      <p:sp>
        <p:nvSpPr>
          <p:cNvPr id="16" name="Shape 13"/>
          <p:cNvSpPr/>
          <p:nvPr/>
        </p:nvSpPr>
        <p:spPr>
          <a:xfrm>
            <a:off x="2816352" y="2377440"/>
            <a:ext cx="2148840" cy="274320"/>
          </a:xfrm>
          <a:prstGeom prst="rect">
            <a:avLst/>
          </a:prstGeom>
          <a:solidFill>
            <a:srgbClr val="FF861E"/>
          </a:solidFill>
          <a:ln/>
        </p:spPr>
      </p:sp>
      <p:sp>
        <p:nvSpPr>
          <p:cNvPr id="17" name="Text 14"/>
          <p:cNvSpPr/>
          <p:nvPr/>
        </p:nvSpPr>
        <p:spPr>
          <a:xfrm>
            <a:off x="2816352" y="18105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4400" dirty="0"/>
          </a:p>
        </p:txBody>
      </p:sp>
      <p:sp>
        <p:nvSpPr>
          <p:cNvPr id="18" name="Shape 15"/>
          <p:cNvSpPr/>
          <p:nvPr/>
        </p:nvSpPr>
        <p:spPr>
          <a:xfrm>
            <a:off x="3579876" y="2816352"/>
            <a:ext cx="621792" cy="621792"/>
          </a:xfrm>
          <a:prstGeom prst="ellipse">
            <a:avLst/>
          </a:prstGeom>
          <a:solidFill>
            <a:srgbClr val="262626"/>
          </a:solidFill>
          <a:ln/>
        </p:spPr>
      </p:sp>
      <p:pic>
        <p:nvPicPr>
          <p:cNvPr id="19" name="Image 1" descr="assets/ic_oc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542" y="2978018"/>
            <a:ext cx="298460" cy="2984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944368" y="356616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Closed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2944368" y="404164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 / Cerrado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689604" y="4434840"/>
            <a:ext cx="402336" cy="22860"/>
          </a:xfrm>
          <a:prstGeom prst="rect">
            <a:avLst/>
          </a:prstGeom>
          <a:solidFill>
            <a:srgbClr val="E6E5E1"/>
          </a:solidFill>
          <a:ln/>
        </p:spPr>
      </p:sp>
      <p:sp>
        <p:nvSpPr>
          <p:cNvPr id="23" name="Text 19"/>
          <p:cNvSpPr/>
          <p:nvPr/>
        </p:nvSpPr>
        <p:spPr>
          <a:xfrm>
            <a:off x="2962656" y="4590288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 a extender, cerrado a modificar.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84064" y="1783080"/>
            <a:ext cx="2148840" cy="3977640"/>
          </a:xfrm>
          <a:prstGeom prst="roundRect">
            <a:avLst>
              <a:gd name="adj" fmla="val 5106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84064" y="178308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F861E"/>
          </a:solidFill>
          <a:ln/>
        </p:spPr>
      </p:sp>
      <p:sp>
        <p:nvSpPr>
          <p:cNvPr id="26" name="Shape 22"/>
          <p:cNvSpPr/>
          <p:nvPr/>
        </p:nvSpPr>
        <p:spPr>
          <a:xfrm>
            <a:off x="5084064" y="2377440"/>
            <a:ext cx="2148840" cy="274320"/>
          </a:xfrm>
          <a:prstGeom prst="rect">
            <a:avLst/>
          </a:prstGeom>
          <a:solidFill>
            <a:srgbClr val="FF861E"/>
          </a:solidFill>
          <a:ln/>
        </p:spPr>
      </p:sp>
      <p:sp>
        <p:nvSpPr>
          <p:cNvPr id="27" name="Text 23"/>
          <p:cNvSpPr/>
          <p:nvPr/>
        </p:nvSpPr>
        <p:spPr>
          <a:xfrm>
            <a:off x="5084064" y="18105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4400" dirty="0"/>
          </a:p>
        </p:txBody>
      </p:sp>
      <p:sp>
        <p:nvSpPr>
          <p:cNvPr id="28" name="Shape 24"/>
          <p:cNvSpPr/>
          <p:nvPr/>
        </p:nvSpPr>
        <p:spPr>
          <a:xfrm>
            <a:off x="5847588" y="2816352"/>
            <a:ext cx="621792" cy="621792"/>
          </a:xfrm>
          <a:prstGeom prst="ellipse">
            <a:avLst/>
          </a:prstGeom>
          <a:solidFill>
            <a:srgbClr val="262626"/>
          </a:solidFill>
          <a:ln/>
        </p:spPr>
      </p:sp>
      <p:pic>
        <p:nvPicPr>
          <p:cNvPr id="29" name="Image 2" descr="assets/ic_ls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254" y="2978018"/>
            <a:ext cx="298460" cy="2984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212080" y="356616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Liskov Substitution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5212080" y="404164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Sustitución de Liskov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957316" y="4434840"/>
            <a:ext cx="402336" cy="22860"/>
          </a:xfrm>
          <a:prstGeom prst="rect">
            <a:avLst/>
          </a:prstGeom>
          <a:solidFill>
            <a:srgbClr val="E6E5E1"/>
          </a:solidFill>
          <a:ln/>
        </p:spPr>
      </p:sp>
      <p:sp>
        <p:nvSpPr>
          <p:cNvPr id="33" name="Text 28"/>
          <p:cNvSpPr/>
          <p:nvPr/>
        </p:nvSpPr>
        <p:spPr>
          <a:xfrm>
            <a:off x="5230368" y="4590288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hijo debe poder reemplazar al padre.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7351776" y="1783080"/>
            <a:ext cx="2148840" cy="3977640"/>
          </a:xfrm>
          <a:prstGeom prst="roundRect">
            <a:avLst>
              <a:gd name="adj" fmla="val 5106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351776" y="178308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F861E"/>
          </a:solidFill>
          <a:ln/>
        </p:spPr>
      </p:sp>
      <p:sp>
        <p:nvSpPr>
          <p:cNvPr id="36" name="Shape 31"/>
          <p:cNvSpPr/>
          <p:nvPr/>
        </p:nvSpPr>
        <p:spPr>
          <a:xfrm>
            <a:off x="7351776" y="2377440"/>
            <a:ext cx="2148840" cy="274320"/>
          </a:xfrm>
          <a:prstGeom prst="rect">
            <a:avLst/>
          </a:prstGeom>
          <a:solidFill>
            <a:srgbClr val="FF861E"/>
          </a:solidFill>
          <a:ln/>
        </p:spPr>
      </p:sp>
      <p:sp>
        <p:nvSpPr>
          <p:cNvPr id="37" name="Text 32"/>
          <p:cNvSpPr/>
          <p:nvPr/>
        </p:nvSpPr>
        <p:spPr>
          <a:xfrm>
            <a:off x="7351776" y="18105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4400" dirty="0"/>
          </a:p>
        </p:txBody>
      </p:sp>
      <p:sp>
        <p:nvSpPr>
          <p:cNvPr id="38" name="Shape 33"/>
          <p:cNvSpPr/>
          <p:nvPr/>
        </p:nvSpPr>
        <p:spPr>
          <a:xfrm>
            <a:off x="8115300" y="2816352"/>
            <a:ext cx="621792" cy="621792"/>
          </a:xfrm>
          <a:prstGeom prst="ellipse">
            <a:avLst/>
          </a:prstGeom>
          <a:solidFill>
            <a:srgbClr val="262626"/>
          </a:solidFill>
          <a:ln/>
        </p:spPr>
      </p:sp>
      <p:pic>
        <p:nvPicPr>
          <p:cNvPr id="39" name="Image 3" descr="assets/ic_isp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966" y="2978018"/>
            <a:ext cx="298460" cy="2984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479792" y="356616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Segregation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7479792" y="404164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Segregación de interfaces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8225028" y="4434840"/>
            <a:ext cx="402336" cy="22860"/>
          </a:xfrm>
          <a:prstGeom prst="rect">
            <a:avLst/>
          </a:prstGeom>
          <a:solidFill>
            <a:srgbClr val="E6E5E1"/>
          </a:solidFill>
          <a:ln/>
        </p:spPr>
      </p:sp>
      <p:sp>
        <p:nvSpPr>
          <p:cNvPr id="43" name="Text 37"/>
          <p:cNvSpPr/>
          <p:nvPr/>
        </p:nvSpPr>
        <p:spPr>
          <a:xfrm>
            <a:off x="7498080" y="4590288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depende de métodos que no usa.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9619488" y="1783080"/>
            <a:ext cx="2148840" cy="3977640"/>
          </a:xfrm>
          <a:prstGeom prst="roundRect">
            <a:avLst>
              <a:gd name="adj" fmla="val 5106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9619488" y="1783080"/>
            <a:ext cx="2148840" cy="868680"/>
          </a:xfrm>
          <a:prstGeom prst="roundRect">
            <a:avLst>
              <a:gd name="adj" fmla="val 12632"/>
            </a:avLst>
          </a:prstGeom>
          <a:solidFill>
            <a:srgbClr val="FF861E"/>
          </a:solidFill>
          <a:ln/>
        </p:spPr>
      </p:sp>
      <p:sp>
        <p:nvSpPr>
          <p:cNvPr id="46" name="Shape 40"/>
          <p:cNvSpPr/>
          <p:nvPr/>
        </p:nvSpPr>
        <p:spPr>
          <a:xfrm>
            <a:off x="9619488" y="2377440"/>
            <a:ext cx="2148840" cy="274320"/>
          </a:xfrm>
          <a:prstGeom prst="rect">
            <a:avLst/>
          </a:prstGeom>
          <a:solidFill>
            <a:srgbClr val="FF861E"/>
          </a:solidFill>
          <a:ln/>
        </p:spPr>
      </p:sp>
      <p:sp>
        <p:nvSpPr>
          <p:cNvPr id="47" name="Text 41"/>
          <p:cNvSpPr/>
          <p:nvPr/>
        </p:nvSpPr>
        <p:spPr>
          <a:xfrm>
            <a:off x="9619488" y="18105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400" dirty="0"/>
          </a:p>
        </p:txBody>
      </p:sp>
      <p:sp>
        <p:nvSpPr>
          <p:cNvPr id="48" name="Shape 42"/>
          <p:cNvSpPr/>
          <p:nvPr/>
        </p:nvSpPr>
        <p:spPr>
          <a:xfrm>
            <a:off x="10383012" y="2816352"/>
            <a:ext cx="621792" cy="621792"/>
          </a:xfrm>
          <a:prstGeom prst="ellipse">
            <a:avLst/>
          </a:prstGeom>
          <a:solidFill>
            <a:srgbClr val="262626"/>
          </a:solidFill>
          <a:ln/>
        </p:spPr>
      </p:sp>
      <p:pic>
        <p:nvPicPr>
          <p:cNvPr id="49" name="Image 4" descr="assets/ic_di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4678" y="2978018"/>
            <a:ext cx="298460" cy="29846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9747504" y="3566160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Inversion</a:t>
            </a:r>
            <a:endParaRPr lang="en-US" sz="1250" dirty="0"/>
          </a:p>
        </p:txBody>
      </p:sp>
      <p:sp>
        <p:nvSpPr>
          <p:cNvPr id="51" name="Text 44"/>
          <p:cNvSpPr/>
          <p:nvPr/>
        </p:nvSpPr>
        <p:spPr>
          <a:xfrm>
            <a:off x="9747504" y="404164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de dependencias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10492740" y="4434840"/>
            <a:ext cx="402336" cy="22860"/>
          </a:xfrm>
          <a:prstGeom prst="rect">
            <a:avLst/>
          </a:prstGeom>
          <a:solidFill>
            <a:srgbClr val="E6E5E1"/>
          </a:solidFill>
          <a:ln/>
        </p:spPr>
      </p:sp>
      <p:sp>
        <p:nvSpPr>
          <p:cNvPr id="53" name="Text 46"/>
          <p:cNvSpPr/>
          <p:nvPr/>
        </p:nvSpPr>
        <p:spPr>
          <a:xfrm>
            <a:off x="9765792" y="4590288"/>
            <a:ext cx="1856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abstracciones, no de detalles.</a:t>
            </a:r>
            <a:endParaRPr lang="en-US" sz="1150" dirty="0"/>
          </a:p>
        </p:txBody>
      </p:sp>
      <p:sp>
        <p:nvSpPr>
          <p:cNvPr id="54" name="Text 47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aplican juntos y se refuerzan entre sí: casi siempre, resolver bien el primero hace más fáciles los otros cuatro.</a:t>
            </a:r>
            <a:endParaRPr lang="en-US" sz="1300" dirty="0"/>
          </a:p>
        </p:txBody>
      </p:sp>
      <p:sp>
        <p:nvSpPr>
          <p:cNvPr id="55" name="Text 48"/>
          <p:cNvSpPr/>
          <p:nvPr/>
        </p:nvSpPr>
        <p:spPr>
          <a:xfrm>
            <a:off x="548640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 ·  Desarrollo de Software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" y="571500"/>
            <a:ext cx="960120" cy="960120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3" name="Image 0" descr="assets/ic_sr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92" y="830732"/>
            <a:ext cx="441655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1 · 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1155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 — Responsabilidad única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2E4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979676"/>
            <a:ext cx="658368" cy="658368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8" name="Image 1" descr="assets/ic_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442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84248"/>
            <a:ext cx="9857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dice? 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debe tener una sola razón para cambiar. Si puedes describirla con un “y” en medio, probablemente hace de más.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798064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BF1F0"/>
          </a:solidFill>
          <a:ln w="12700">
            <a:solidFill>
              <a:srgbClr val="F0D3D0"/>
            </a:solidFill>
            <a:prstDash val="solid"/>
          </a:ln>
        </p:spPr>
      </p:sp>
      <p:pic>
        <p:nvPicPr>
          <p:cNvPr id="11" name="Image 2" descr="assets/ic_x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8529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798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14" name="Shape 9"/>
          <p:cNvSpPr/>
          <p:nvPr/>
        </p:nvSpPr>
        <p:spPr>
          <a:xfrm>
            <a:off x="749808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0"/>
          <p:cNvSpPr/>
          <p:nvPr/>
        </p:nvSpPr>
        <p:spPr>
          <a:xfrm>
            <a:off x="969264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1"/>
          <p:cNvSpPr/>
          <p:nvPr/>
        </p:nvSpPr>
        <p:spPr>
          <a:xfrm>
            <a:off x="1188720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2"/>
          <p:cNvSpPr/>
          <p:nvPr/>
        </p:nvSpPr>
        <p:spPr>
          <a:xfrm>
            <a:off x="804672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arma el contenido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guardar_en_db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habla con la base de datos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enviar_email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habla con el servidor SMTP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razones distintas para cambiar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9632" y="279806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F2FAF4"/>
          </a:solidFill>
          <a:ln w="12700">
            <a:solidFill>
              <a:srgbClr val="CDE9D5"/>
            </a:solidFill>
            <a:prstDash val="solid"/>
          </a:ln>
        </p:spPr>
      </p:sp>
      <p:pic>
        <p:nvPicPr>
          <p:cNvPr id="19" name="Image 3" descr="assets/ic_che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8529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0" y="2798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1E7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99632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22" name="Shape 16"/>
          <p:cNvSpPr/>
          <p:nvPr/>
        </p:nvSpPr>
        <p:spPr>
          <a:xfrm>
            <a:off x="6400800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0256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6839712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6455664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ReporteRepo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Notificador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clase cambia por un solo motivo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8000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pic>
        <p:nvPicPr>
          <p:cNvPr id="27" name="Image 4" descr="assets/ic_arrow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01675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práctica:  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cambiar el formato del correo te obliga a tocar la clase que consulta la base de datos, ya se rompió el principio.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 ·  Desarrollo de Software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" y="571500"/>
            <a:ext cx="960120" cy="960120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3" name="Image 0" descr="assets/ic_oc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92" y="830732"/>
            <a:ext cx="441655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2 · 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1155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Closed — Abierto y cerrado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2E4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979676"/>
            <a:ext cx="658368" cy="658368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8" name="Image 1" descr="assets/ic_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442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84248"/>
            <a:ext cx="9857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dice? 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debe estar abierto a la extensión pero cerrado a la modificación: agregar un caso nuevo no debería obligarte a editar lo que ya funciona.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798064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BF1F0"/>
          </a:solidFill>
          <a:ln w="12700">
            <a:solidFill>
              <a:srgbClr val="F0D3D0"/>
            </a:solidFill>
            <a:prstDash val="solid"/>
          </a:ln>
        </p:spPr>
      </p:sp>
      <p:pic>
        <p:nvPicPr>
          <p:cNvPr id="11" name="Image 2" descr="assets/ic_x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8529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798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14" name="Shape 9"/>
          <p:cNvSpPr/>
          <p:nvPr/>
        </p:nvSpPr>
        <p:spPr>
          <a:xfrm>
            <a:off x="749808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0"/>
          <p:cNvSpPr/>
          <p:nvPr/>
        </p:nvSpPr>
        <p:spPr>
          <a:xfrm>
            <a:off x="969264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1"/>
          <p:cNvSpPr/>
          <p:nvPr/>
        </p:nvSpPr>
        <p:spPr>
          <a:xfrm>
            <a:off x="1188720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2"/>
          <p:cNvSpPr/>
          <p:nvPr/>
        </p:nvSpPr>
        <p:spPr>
          <a:xfrm>
            <a:off x="804672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calcular_descuento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"regular"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"vip"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"corporativo"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tipo nuevo obliga a volver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abrir y editar esta función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9632" y="279806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F2FAF4"/>
          </a:solidFill>
          <a:ln w="12700">
            <a:solidFill>
              <a:srgbClr val="CDE9D5"/>
            </a:solidFill>
            <a:prstDash val="solid"/>
          </a:ln>
        </p:spPr>
      </p:sp>
      <p:pic>
        <p:nvPicPr>
          <p:cNvPr id="19" name="Image 3" descr="assets/ic_che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8529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0" y="2798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1E7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99632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22" name="Shape 16"/>
          <p:cNvSpPr/>
          <p:nvPr/>
        </p:nvSpPr>
        <p:spPr>
          <a:xfrm>
            <a:off x="6400800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0256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6839712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6455664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Descuento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NotImplementedError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Descuento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Descuento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tipo nuevo = una clase nueva,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tocar el código existente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8000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pic>
        <p:nvPicPr>
          <p:cNvPr id="27" name="Image 4" descr="assets/ic_arrow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01675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práctica:  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if/elif que crece con cada requisito nuevo es la señal más común de que este principio se está violando.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 ·  Desarrollo de Software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" y="571500"/>
            <a:ext cx="960120" cy="960120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3" name="Image 0" descr="assets/ic_ls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92" y="830732"/>
            <a:ext cx="441655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3 · 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1155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Liskov Substitution — Sustitución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2E4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979676"/>
            <a:ext cx="658368" cy="658368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8" name="Image 1" descr="assets/ic_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442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84248"/>
            <a:ext cx="9857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dice? 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subtipo debe poder usarse en lugar de su tipo base sin que el programa se rompa ni cambie su comportamiento esperado.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798064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BF1F0"/>
          </a:solidFill>
          <a:ln w="12700">
            <a:solidFill>
              <a:srgbClr val="F0D3D0"/>
            </a:solidFill>
            <a:prstDash val="solid"/>
          </a:ln>
        </p:spPr>
      </p:sp>
      <p:pic>
        <p:nvPicPr>
          <p:cNvPr id="11" name="Image 2" descr="assets/ic_x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8529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798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14" name="Shape 9"/>
          <p:cNvSpPr/>
          <p:nvPr/>
        </p:nvSpPr>
        <p:spPr>
          <a:xfrm>
            <a:off x="749808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0"/>
          <p:cNvSpPr/>
          <p:nvPr/>
        </p:nvSpPr>
        <p:spPr>
          <a:xfrm>
            <a:off x="969264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1"/>
          <p:cNvSpPr/>
          <p:nvPr/>
        </p:nvSpPr>
        <p:spPr>
          <a:xfrm>
            <a:off x="1188720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2"/>
          <p:cNvSpPr/>
          <p:nvPr/>
        </p:nvSpPr>
        <p:spPr>
          <a:xfrm>
            <a:off x="804672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Aguila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Pinguino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hijo rompe el contrato del padre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9632" y="279806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F2FAF4"/>
          </a:solidFill>
          <a:ln w="12700">
            <a:solidFill>
              <a:srgbClr val="CDE9D5"/>
            </a:solidFill>
            <a:prstDash val="solid"/>
          </a:ln>
        </p:spPr>
      </p:sp>
      <p:pic>
        <p:nvPicPr>
          <p:cNvPr id="19" name="Image 3" descr="assets/ic_che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8529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0" y="2798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1E7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99632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22" name="Shape 16"/>
          <p:cNvSpPr/>
          <p:nvPr/>
        </p:nvSpPr>
        <p:spPr>
          <a:xfrm>
            <a:off x="6400800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0256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6839712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6455664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moverse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Aguila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moverse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vuela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Pinguino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moverse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nada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cualquier Ave es intercambiable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8000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pic>
        <p:nvPicPr>
          <p:cNvPr id="27" name="Image 4" descr="assets/ic_arrow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01675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práctica:  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tienes que preguntar de qué tipo es el objeto antes de usarlo, o sobrescribir un método para lanzar un error, revisa la jerarquía.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 ·  Desarrollo de Software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" y="571500"/>
            <a:ext cx="960120" cy="960120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3" name="Image 0" descr="assets/ic_is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92" y="830732"/>
            <a:ext cx="441655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4 · 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1155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Segregation — Segregación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2E4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979676"/>
            <a:ext cx="658368" cy="658368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8" name="Image 1" descr="assets/ic_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442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84248"/>
            <a:ext cx="9857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dice? 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mejor tener varias interfaces pequeñas y específicas que una grande y genérica. Ninguna clase debería depender de métodos que no usa.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798064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BF1F0"/>
          </a:solidFill>
          <a:ln w="12700">
            <a:solidFill>
              <a:srgbClr val="F0D3D0"/>
            </a:solidFill>
            <a:prstDash val="solid"/>
          </a:ln>
        </p:spPr>
      </p:sp>
      <p:pic>
        <p:nvPicPr>
          <p:cNvPr id="11" name="Image 2" descr="assets/ic_x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8529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798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14" name="Shape 9"/>
          <p:cNvSpPr/>
          <p:nvPr/>
        </p:nvSpPr>
        <p:spPr>
          <a:xfrm>
            <a:off x="749808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0"/>
          <p:cNvSpPr/>
          <p:nvPr/>
        </p:nvSpPr>
        <p:spPr>
          <a:xfrm>
            <a:off x="969264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1"/>
          <p:cNvSpPr/>
          <p:nvPr/>
        </p:nvSpPr>
        <p:spPr>
          <a:xfrm>
            <a:off x="1188720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2"/>
          <p:cNvSpPr/>
          <p:nvPr/>
        </p:nvSpPr>
        <p:spPr>
          <a:xfrm>
            <a:off x="804672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Trabajador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disenar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Pasante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Trabajador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disenar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9632" y="279806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F2FAF4"/>
          </a:solidFill>
          <a:ln w="12700">
            <a:solidFill>
              <a:srgbClr val="CDE9D5"/>
            </a:solidFill>
            <a:prstDash val="solid"/>
          </a:ln>
        </p:spPr>
      </p:sp>
      <p:pic>
        <p:nvPicPr>
          <p:cNvPr id="19" name="Image 3" descr="assets/ic_che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8529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0" y="2798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1E7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99632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22" name="Shape 16"/>
          <p:cNvSpPr/>
          <p:nvPr/>
        </p:nvSpPr>
        <p:spPr>
          <a:xfrm>
            <a:off x="6400800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0256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6839712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6455664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Disena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disenar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Pasante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implementa solo lo que sí hace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8000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pic>
        <p:nvPicPr>
          <p:cNvPr id="27" name="Image 4" descr="assets/ic_arrow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01675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práctica:  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vacíos, que devuelven None o que lanzan “no implementado” son el síntoma clásico de una interfaz demasiado grande.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 ·  Desarrollo de Software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" y="571500"/>
            <a:ext cx="960120" cy="960120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3" name="Image 0" descr="assets/ic_di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92" y="830732"/>
            <a:ext cx="441655" cy="441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5 · 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1155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Inversion — Inversión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2E4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979676"/>
            <a:ext cx="658368" cy="658368"/>
          </a:xfrm>
          <a:prstGeom prst="ellipse">
            <a:avLst/>
          </a:prstGeom>
          <a:solidFill>
            <a:srgbClr val="FF861E"/>
          </a:solidFill>
          <a:ln/>
        </p:spPr>
      </p:sp>
      <p:pic>
        <p:nvPicPr>
          <p:cNvPr id="8" name="Image 1" descr="assets/ic_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442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84248"/>
            <a:ext cx="9857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dice? 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módulos de alto nivel no deben depender de los de bajo nivel: ambos deben depender de abstracciones. Depende del contrato, no de la implementación.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798064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BF1F0"/>
          </a:solidFill>
          <a:ln w="12700">
            <a:solidFill>
              <a:srgbClr val="F0D3D0"/>
            </a:solidFill>
            <a:prstDash val="solid"/>
          </a:ln>
        </p:spPr>
      </p:sp>
      <p:pic>
        <p:nvPicPr>
          <p:cNvPr id="11" name="Image 2" descr="assets/ic_x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8529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798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14" name="Shape 9"/>
          <p:cNvSpPr/>
          <p:nvPr/>
        </p:nvSpPr>
        <p:spPr>
          <a:xfrm>
            <a:off x="749808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0"/>
          <p:cNvSpPr/>
          <p:nvPr/>
        </p:nvSpPr>
        <p:spPr>
          <a:xfrm>
            <a:off x="969264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1"/>
          <p:cNvSpPr/>
          <p:nvPr/>
        </p:nvSpPr>
        <p:spPr>
          <a:xfrm>
            <a:off x="1188720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2"/>
          <p:cNvSpPr/>
          <p:nvPr/>
        </p:nvSpPr>
        <p:spPr>
          <a:xfrm>
            <a:off x="804672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ServicioPedidos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atado a MySQL para siempre: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se puede probar sin la base real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9632" y="279806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F2FAF4"/>
          </a:solidFill>
          <a:ln w="12700">
            <a:solidFill>
              <a:srgbClr val="CDE9D5"/>
            </a:solidFill>
            <a:prstDash val="solid"/>
          </a:ln>
        </p:spPr>
      </p:sp>
      <p:pic>
        <p:nvPicPr>
          <p:cNvPr id="19" name="Image 3" descr="assets/ic_che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8529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0" y="2798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1E7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99632" y="320040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1C1C1C"/>
          </a:solidFill>
          <a:ln/>
        </p:spPr>
      </p:sp>
      <p:sp>
        <p:nvSpPr>
          <p:cNvPr id="22" name="Shape 16"/>
          <p:cNvSpPr/>
          <p:nvPr/>
        </p:nvSpPr>
        <p:spPr>
          <a:xfrm>
            <a:off x="6400800" y="338328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0256" y="338328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6839712" y="338328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6455664" y="3621024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NotImplementedError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ServicioPedidos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9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8000"/>
            </a:avLst>
          </a:prstGeom>
          <a:solidFill>
            <a:srgbClr val="F6F6F3"/>
          </a:solidFill>
          <a:ln w="12700">
            <a:solidFill>
              <a:srgbClr val="E6E5E1"/>
            </a:solidFill>
            <a:prstDash val="solid"/>
          </a:ln>
        </p:spPr>
      </p:sp>
      <p:pic>
        <p:nvPicPr>
          <p:cNvPr id="27" name="Image 4" descr="assets/ic_arrow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01675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práctica:   </a:t>
            </a:r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 dependencia se recibe desde afuera, cambiar de base de datos —o usar una falsa en las pruebas— deja de ser un problema.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 ·  Desarrollo de Software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SABER SI VAS BIEN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de alerta y lo que ganas al aplicarlos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34840"/>
          </a:xfrm>
          <a:prstGeom prst="roundRect">
            <a:avLst>
              <a:gd name="adj" fmla="val 2680"/>
            </a:avLst>
          </a:prstGeom>
          <a:solidFill>
            <a:srgbClr val="FBF1F0"/>
          </a:solidFill>
          <a:ln w="12700">
            <a:solidFill>
              <a:srgbClr val="F0D3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574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assets/ic_smel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84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DE ALERTA</a:t>
            </a:r>
            <a:endParaRPr lang="en-US" sz="1500" dirty="0"/>
          </a:p>
        </p:txBody>
      </p:sp>
      <p:pic>
        <p:nvPicPr>
          <p:cNvPr id="8" name="Image 1" descr="assets/ic_x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944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880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“Manager” o “Utils” de mil líneas</a:t>
            </a:r>
            <a:endParaRPr lang="en-US" sz="1400" dirty="0"/>
          </a:p>
        </p:txBody>
      </p:sp>
      <p:pic>
        <p:nvPicPr>
          <p:cNvPr id="10" name="Image 2" descr="assets/ic_x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6616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5021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if/elif que crece con cada requisito</a:t>
            </a:r>
            <a:endParaRPr lang="en-US" sz="1400" dirty="0"/>
          </a:p>
        </p:txBody>
      </p:sp>
      <p:pic>
        <p:nvPicPr>
          <p:cNvPr id="12" name="Image 3" descr="assets/ic_x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8795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98448" y="412394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que lanzan “no implementado”</a:t>
            </a:r>
            <a:endParaRPr lang="en-US" sz="1400" dirty="0"/>
          </a:p>
        </p:txBody>
      </p:sp>
      <p:pic>
        <p:nvPicPr>
          <p:cNvPr id="14" name="Image 4" descr="assets/ic_x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09744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98448" y="474573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Tocar un archivo rompe otros tres</a:t>
            </a:r>
            <a:endParaRPr lang="en-US" sz="1400" dirty="0"/>
          </a:p>
        </p:txBody>
      </p:sp>
      <p:pic>
        <p:nvPicPr>
          <p:cNvPr id="16" name="Image 5" descr="assets/ic_x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431536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98448" y="53675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puedes probar sin levantar la base de datos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6199632" y="1783080"/>
            <a:ext cx="5440680" cy="4434840"/>
          </a:xfrm>
          <a:prstGeom prst="roundRect">
            <a:avLst>
              <a:gd name="adj" fmla="val 2680"/>
            </a:avLst>
          </a:prstGeom>
          <a:solidFill>
            <a:srgbClr val="F2FAF4"/>
          </a:solidFill>
          <a:ln w="12700">
            <a:solidFill>
              <a:srgbClr val="CDE9D5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6400800" y="2057400"/>
            <a:ext cx="548640" cy="548640"/>
          </a:xfrm>
          <a:prstGeom prst="ellipse">
            <a:avLst/>
          </a:prstGeom>
          <a:solidFill>
            <a:srgbClr val="2F9E5A"/>
          </a:solidFill>
          <a:ln/>
        </p:spPr>
      </p:sp>
      <p:pic>
        <p:nvPicPr>
          <p:cNvPr id="20" name="Image 6" descr="assets/ic_check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2180844"/>
            <a:ext cx="301752" cy="30175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114032" y="2084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E7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GANAS</a:t>
            </a:r>
            <a:endParaRPr lang="en-US" sz="1500" dirty="0"/>
          </a:p>
        </p:txBody>
      </p:sp>
      <p:pic>
        <p:nvPicPr>
          <p:cNvPr id="22" name="Image 7" descr="assets/ic_check_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944368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2880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localizados y de bajo riesgo</a:t>
            </a:r>
            <a:endParaRPr lang="en-US" sz="1400" dirty="0"/>
          </a:p>
        </p:txBody>
      </p:sp>
      <p:pic>
        <p:nvPicPr>
          <p:cNvPr id="24" name="Image 8" descr="assets/ic_check_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566160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49440" y="35021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 simples de escribir</a:t>
            </a:r>
            <a:endParaRPr lang="en-US" sz="1400" dirty="0"/>
          </a:p>
        </p:txBody>
      </p:sp>
      <p:pic>
        <p:nvPicPr>
          <p:cNvPr id="26" name="Image 9" descr="assets/ic_check_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187952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49440" y="412394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Piezas reutilizables en otros módulos</a:t>
            </a:r>
            <a:endParaRPr lang="en-US" sz="1400" dirty="0"/>
          </a:p>
        </p:txBody>
      </p:sp>
      <p:pic>
        <p:nvPicPr>
          <p:cNvPr id="28" name="Image 10" descr="assets/ic_check_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809744"/>
            <a:ext cx="237744" cy="237744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949440" y="474573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más rápido del equipo</a:t>
            </a:r>
            <a:endParaRPr lang="en-US" sz="1400" dirty="0"/>
          </a:p>
        </p:txBody>
      </p:sp>
      <p:pic>
        <p:nvPicPr>
          <p:cNvPr id="30" name="Image 11" descr="assets/ic_check_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5431536"/>
            <a:ext cx="237744" cy="237744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949440" y="53675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miedo a refactorizar</a:t>
            </a:r>
            <a:endParaRPr lang="en-US" sz="1400" dirty="0"/>
          </a:p>
        </p:txBody>
      </p:sp>
      <p:sp>
        <p:nvSpPr>
          <p:cNvPr id="32" name="Text 18"/>
          <p:cNvSpPr/>
          <p:nvPr/>
        </p:nvSpPr>
        <p:spPr>
          <a:xfrm>
            <a:off x="548640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  ·  Desarrollo de Software</a:t>
            </a:r>
            <a:endParaRPr lang="en-US" sz="900" dirty="0"/>
          </a:p>
        </p:txBody>
      </p:sp>
      <p:sp>
        <p:nvSpPr>
          <p:cNvPr id="33" name="Text 1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2148840" cy="7606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FRASE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03504" y="28346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no hace que el código funcione mejor.</a:t>
            </a: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que </a:t>
            </a:r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cambiarlo</a:t>
            </a:r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 barato.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Aplícalos cuando aporten claridad, no por obligación: un sistema simple no necesita cinco abstracciones. El criterio es siempre el mismo — ¿qué tan fácil será cambiar esto cuando el requisito cambie?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8368" y="5623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33333"/>
          </a:solidFill>
          <a:ln w="15240">
            <a:solidFill>
              <a:srgbClr val="FF86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16736" y="5623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33333"/>
          </a:solidFill>
          <a:ln w="15240">
            <a:solidFill>
              <a:srgbClr val="FF86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16736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975104" y="5623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33333"/>
          </a:solidFill>
          <a:ln w="15240">
            <a:solidFill>
              <a:srgbClr val="FF86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75104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33472" y="5623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33333"/>
          </a:solidFill>
          <a:ln w="15240">
            <a:solidFill>
              <a:srgbClr val="FF86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33472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91840" y="5623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33333"/>
          </a:solidFill>
          <a:ln w="15240">
            <a:solidFill>
              <a:srgbClr val="FF86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University  ·  Desarrollo de Software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2026-07-20T22:15:56Z</dcterms:created>
  <dcterms:modified xsi:type="dcterms:W3CDTF">2026-07-20T22:15:56Z</dcterms:modified>
</cp:coreProperties>
</file>